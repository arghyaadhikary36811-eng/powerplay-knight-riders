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da" charset="1" panose="02000503000000000000"/>
      <p:regular r:id="rId14"/>
    </p:embeddedFont>
    <p:embeddedFont>
      <p:font typeface="Monda Bold" charset="1" panose="02000803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702925" y="5180634"/>
            <a:ext cx="12556375" cy="3971151"/>
          </a:xfrm>
          <a:prstGeom prst="rect">
            <a:avLst/>
          </a:prstGeom>
        </p:spPr>
        <p:txBody>
          <a:bodyPr anchor="t" rtlCol="false" tIns="0" lIns="0" bIns="0" rIns="0">
            <a:spAutoFit/>
          </a:bodyPr>
          <a:lstStyle/>
          <a:p>
            <a:pPr algn="just">
              <a:lnSpc>
                <a:spcPts val="5292"/>
              </a:lnSpc>
            </a:pPr>
            <a:r>
              <a:rPr lang="en-US" sz="3780">
                <a:solidFill>
                  <a:srgbClr val="002B58"/>
                </a:solidFill>
                <a:latin typeface="Monda"/>
                <a:ea typeface="Monda"/>
                <a:cs typeface="Monda"/>
                <a:sym typeface="Monda"/>
              </a:rPr>
              <a:t>Presented By</a:t>
            </a:r>
          </a:p>
          <a:p>
            <a:pPr algn="just">
              <a:lnSpc>
                <a:spcPts val="5292"/>
              </a:lnSpc>
            </a:pPr>
            <a:r>
              <a:rPr lang="en-US" sz="3780">
                <a:solidFill>
                  <a:srgbClr val="002B58"/>
                </a:solidFill>
                <a:latin typeface="Monda"/>
                <a:ea typeface="Monda"/>
                <a:cs typeface="Monda"/>
                <a:sym typeface="Monda"/>
              </a:rPr>
              <a:t>Arghya Adhikary (230409120048)</a:t>
            </a:r>
          </a:p>
          <a:p>
            <a:pPr algn="just">
              <a:lnSpc>
                <a:spcPts val="5292"/>
              </a:lnSpc>
            </a:pPr>
            <a:r>
              <a:rPr lang="en-US" sz="3780">
                <a:solidFill>
                  <a:srgbClr val="002B58"/>
                </a:solidFill>
                <a:latin typeface="Monda"/>
                <a:ea typeface="Monda"/>
                <a:cs typeface="Monda"/>
                <a:sym typeface="Monda"/>
              </a:rPr>
              <a:t>Alisha Beck (230409120036)</a:t>
            </a:r>
          </a:p>
          <a:p>
            <a:pPr algn="just">
              <a:lnSpc>
                <a:spcPts val="5292"/>
              </a:lnSpc>
            </a:pPr>
            <a:r>
              <a:rPr lang="en-US" sz="3780">
                <a:solidFill>
                  <a:srgbClr val="002B58"/>
                </a:solidFill>
                <a:latin typeface="Monda"/>
                <a:ea typeface="Monda"/>
                <a:cs typeface="Monda"/>
                <a:sym typeface="Monda"/>
              </a:rPr>
              <a:t>Anukshya Chowdhury (230409120049)</a:t>
            </a:r>
          </a:p>
          <a:p>
            <a:pPr algn="just">
              <a:lnSpc>
                <a:spcPts val="5292"/>
              </a:lnSpc>
            </a:pPr>
            <a:r>
              <a:rPr lang="en-US" sz="3780">
                <a:solidFill>
                  <a:srgbClr val="002B58"/>
                </a:solidFill>
                <a:latin typeface="Monda"/>
                <a:ea typeface="Monda"/>
                <a:cs typeface="Monda"/>
                <a:sym typeface="Monda"/>
              </a:rPr>
              <a:t>Shreya Debnath (230409120034)</a:t>
            </a:r>
          </a:p>
          <a:p>
            <a:pPr algn="just">
              <a:lnSpc>
                <a:spcPts val="5292"/>
              </a:lnSpc>
            </a:pPr>
          </a:p>
        </p:txBody>
      </p:sp>
      <p:sp>
        <p:nvSpPr>
          <p:cNvPr name="TextBox 8" id="8"/>
          <p:cNvSpPr txBox="true"/>
          <p:nvPr/>
        </p:nvSpPr>
        <p:spPr>
          <a:xfrm rot="0">
            <a:off x="2569287" y="2504238"/>
            <a:ext cx="13149426" cy="2326729"/>
          </a:xfrm>
          <a:prstGeom prst="rect">
            <a:avLst/>
          </a:prstGeom>
        </p:spPr>
        <p:txBody>
          <a:bodyPr anchor="t" rtlCol="false" tIns="0" lIns="0" bIns="0" rIns="0">
            <a:spAutoFit/>
          </a:bodyPr>
          <a:lstStyle/>
          <a:p>
            <a:pPr algn="ctr">
              <a:lnSpc>
                <a:spcPts val="9305"/>
              </a:lnSpc>
            </a:pPr>
            <a:r>
              <a:rPr lang="en-US" b="true" sz="6646">
                <a:solidFill>
                  <a:srgbClr val="002B58"/>
                </a:solidFill>
                <a:latin typeface="Monda Bold"/>
                <a:ea typeface="Monda Bold"/>
                <a:cs typeface="Monda Bold"/>
                <a:sym typeface="Monda Bold"/>
              </a:rPr>
              <a:t>INDIAN ELEMENTARY SCHOOL DATA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367119" y="3811915"/>
            <a:ext cx="11699089" cy="5118009"/>
          </a:xfrm>
          <a:prstGeom prst="rect">
            <a:avLst/>
          </a:prstGeom>
        </p:spPr>
        <p:txBody>
          <a:bodyPr anchor="t" rtlCol="false" tIns="0" lIns="0" bIns="0" rIns="0">
            <a:spAutoFit/>
          </a:bodyPr>
          <a:lstStyle/>
          <a:p>
            <a:pPr algn="l" marL="702450" indent="-351225" lvl="1">
              <a:lnSpc>
                <a:spcPts val="4555"/>
              </a:lnSpc>
              <a:buFont typeface="Arial"/>
              <a:buChar char="•"/>
            </a:pPr>
            <a:r>
              <a:rPr lang="en-US" sz="3253">
                <a:solidFill>
                  <a:srgbClr val="002B58"/>
                </a:solidFill>
                <a:latin typeface="Monda"/>
                <a:ea typeface="Monda"/>
                <a:cs typeface="Monda"/>
                <a:sym typeface="Monda"/>
              </a:rPr>
              <a:t>To analyze the state-wise enrollment of boys and girls in elementary education.</a:t>
            </a:r>
          </a:p>
          <a:p>
            <a:pPr algn="l" marL="702450" indent="-351225" lvl="1">
              <a:lnSpc>
                <a:spcPts val="4555"/>
              </a:lnSpc>
              <a:buFont typeface="Arial"/>
              <a:buChar char="•"/>
            </a:pPr>
            <a:r>
              <a:rPr lang="en-US" sz="3253">
                <a:solidFill>
                  <a:srgbClr val="002B58"/>
                </a:solidFill>
                <a:latin typeface="Monda"/>
                <a:ea typeface="Monda"/>
                <a:cs typeface="Monda"/>
                <a:sym typeface="Monda"/>
              </a:rPr>
              <a:t>To observe attendance patterns and dropout rates across different regions.</a:t>
            </a:r>
          </a:p>
          <a:p>
            <a:pPr algn="l" marL="702450" indent="-351225" lvl="1">
              <a:lnSpc>
                <a:spcPts val="4555"/>
              </a:lnSpc>
              <a:buFont typeface="Arial"/>
              <a:buChar char="•"/>
            </a:pPr>
            <a:r>
              <a:rPr lang="en-US" sz="3253">
                <a:solidFill>
                  <a:srgbClr val="002B58"/>
                </a:solidFill>
                <a:latin typeface="Monda"/>
                <a:ea typeface="Monda"/>
                <a:cs typeface="Monda"/>
                <a:sym typeface="Monda"/>
              </a:rPr>
              <a:t>To identify key disparities between rural and urban schools.</a:t>
            </a:r>
          </a:p>
          <a:p>
            <a:pPr algn="l" marL="702450" indent="-351225" lvl="1">
              <a:lnSpc>
                <a:spcPts val="4555"/>
              </a:lnSpc>
              <a:buFont typeface="Arial"/>
              <a:buChar char="•"/>
            </a:pPr>
            <a:r>
              <a:rPr lang="en-US" sz="3253">
                <a:solidFill>
                  <a:srgbClr val="002B58"/>
                </a:solidFill>
                <a:latin typeface="Monda"/>
                <a:ea typeface="Monda"/>
                <a:cs typeface="Monda"/>
                <a:sym typeface="Monda"/>
              </a:rPr>
              <a:t>To provide data-driven recommendations for improving elementary education outcomes.</a:t>
            </a:r>
          </a:p>
          <a:p>
            <a:pPr algn="ctr">
              <a:lnSpc>
                <a:spcPts val="4555"/>
              </a:lnSpc>
            </a:pPr>
          </a:p>
        </p:txBody>
      </p:sp>
      <p:sp>
        <p:nvSpPr>
          <p:cNvPr name="TextBox 8" id="8"/>
          <p:cNvSpPr txBox="true"/>
          <p:nvPr/>
        </p:nvSpPr>
        <p:spPr>
          <a:xfrm rot="0">
            <a:off x="4307884" y="2120443"/>
            <a:ext cx="9672231"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OBJECTIVES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811554" y="604743"/>
            <a:ext cx="17789803" cy="2794150"/>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DATA CLEANING AND PREPARATION</a:t>
            </a:r>
          </a:p>
        </p:txBody>
      </p:sp>
      <p:sp>
        <p:nvSpPr>
          <p:cNvPr name="TextBox 8" id="8"/>
          <p:cNvSpPr txBox="true"/>
          <p:nvPr/>
        </p:nvSpPr>
        <p:spPr>
          <a:xfrm rot="0">
            <a:off x="3812446" y="3604228"/>
            <a:ext cx="11355256" cy="5147756"/>
          </a:xfrm>
          <a:prstGeom prst="rect">
            <a:avLst/>
          </a:prstGeom>
        </p:spPr>
        <p:txBody>
          <a:bodyPr anchor="t" rtlCol="false" tIns="0" lIns="0" bIns="0" rIns="0">
            <a:spAutoFit/>
          </a:bodyPr>
          <a:lstStyle/>
          <a:p>
            <a:pPr algn="just" marL="795037" indent="-397518" lvl="1">
              <a:lnSpc>
                <a:spcPts val="5155"/>
              </a:lnSpc>
              <a:buFont typeface="Arial"/>
              <a:buChar char="•"/>
            </a:pPr>
            <a:r>
              <a:rPr lang="en-US" sz="3682">
                <a:solidFill>
                  <a:srgbClr val="002B58"/>
                </a:solidFill>
                <a:latin typeface="Monda"/>
                <a:ea typeface="Monda"/>
                <a:cs typeface="Monda"/>
                <a:sym typeface="Monda"/>
              </a:rPr>
              <a:t>Removed missing/null values for consistent comparison.</a:t>
            </a:r>
          </a:p>
          <a:p>
            <a:pPr algn="just" marL="795037" indent="-397518" lvl="1">
              <a:lnSpc>
                <a:spcPts val="5155"/>
              </a:lnSpc>
              <a:buFont typeface="Arial"/>
              <a:buChar char="•"/>
            </a:pPr>
            <a:r>
              <a:rPr lang="en-US" sz="3682">
                <a:solidFill>
                  <a:srgbClr val="002B58"/>
                </a:solidFill>
                <a:latin typeface="Monda"/>
                <a:ea typeface="Monda"/>
                <a:cs typeface="Monda"/>
                <a:sym typeface="Monda"/>
              </a:rPr>
              <a:t>Standardized district and state names.</a:t>
            </a:r>
          </a:p>
          <a:p>
            <a:pPr algn="just" marL="795037" indent="-397518" lvl="1">
              <a:lnSpc>
                <a:spcPts val="5155"/>
              </a:lnSpc>
              <a:buFont typeface="Arial"/>
              <a:buChar char="•"/>
            </a:pPr>
            <a:r>
              <a:rPr lang="en-US" sz="3682">
                <a:solidFill>
                  <a:srgbClr val="002B58"/>
                </a:solidFill>
                <a:latin typeface="Monda"/>
                <a:ea typeface="Monda"/>
                <a:cs typeface="Monda"/>
                <a:sym typeface="Monda"/>
              </a:rPr>
              <a:t>Grouped data by state, gender, and school type.</a:t>
            </a:r>
          </a:p>
          <a:p>
            <a:pPr algn="just" marL="795037" indent="-397518" lvl="1">
              <a:lnSpc>
                <a:spcPts val="5155"/>
              </a:lnSpc>
              <a:buFont typeface="Arial"/>
              <a:buChar char="•"/>
            </a:pPr>
            <a:r>
              <a:rPr lang="en-US" sz="3682">
                <a:solidFill>
                  <a:srgbClr val="002B58"/>
                </a:solidFill>
                <a:latin typeface="Monda"/>
                <a:ea typeface="Monda"/>
                <a:cs typeface="Monda"/>
                <a:sym typeface="Monda"/>
              </a:rPr>
              <a:t>Created calculated columns for dropout % and attendance rate.</a:t>
            </a:r>
          </a:p>
          <a:p>
            <a:pPr algn="just" marL="795037" indent="-397518" lvl="1">
              <a:lnSpc>
                <a:spcPts val="5155"/>
              </a:lnSpc>
              <a:buFont typeface="Arial"/>
              <a:buChar char="•"/>
            </a:pPr>
            <a:r>
              <a:rPr lang="en-US" sz="3682">
                <a:solidFill>
                  <a:srgbClr val="002B58"/>
                </a:solidFill>
                <a:latin typeface="Monda"/>
                <a:ea typeface="Monda"/>
                <a:cs typeface="Monda"/>
                <a:sym typeface="Monda"/>
              </a:rPr>
              <a:t>Tools Used: Power BI, Excel.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0" y="-726935"/>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307884" y="876300"/>
            <a:ext cx="9672231"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KEY VISUALS</a:t>
            </a:r>
          </a:p>
        </p:txBody>
      </p:sp>
      <p:sp>
        <p:nvSpPr>
          <p:cNvPr name="TextBox 8" id="8"/>
          <p:cNvSpPr txBox="true"/>
          <p:nvPr/>
        </p:nvSpPr>
        <p:spPr>
          <a:xfrm rot="0">
            <a:off x="2971289" y="3337754"/>
            <a:ext cx="13265038" cy="4966146"/>
          </a:xfrm>
          <a:prstGeom prst="rect">
            <a:avLst/>
          </a:prstGeom>
        </p:spPr>
        <p:txBody>
          <a:bodyPr anchor="t" rtlCol="false" tIns="0" lIns="0" bIns="0" rIns="0">
            <a:spAutoFit/>
          </a:bodyPr>
          <a:lstStyle/>
          <a:p>
            <a:pPr algn="just">
              <a:lnSpc>
                <a:spcPts val="4398"/>
              </a:lnSpc>
            </a:pPr>
          </a:p>
          <a:p>
            <a:pPr algn="just" marL="678310" indent="-339155" lvl="1">
              <a:lnSpc>
                <a:spcPts val="4398"/>
              </a:lnSpc>
              <a:buFont typeface="Arial"/>
              <a:buChar char="•"/>
            </a:pPr>
            <a:r>
              <a:rPr lang="en-US" b="true" sz="3141">
                <a:solidFill>
                  <a:srgbClr val="002B58"/>
                </a:solidFill>
                <a:latin typeface="Monda Bold"/>
                <a:ea typeface="Monda Bold"/>
                <a:cs typeface="Monda Bold"/>
                <a:sym typeface="Monda Bold"/>
              </a:rPr>
              <a:t>Bar Chart: Enrollment by State (Boys vs. Girls).</a:t>
            </a:r>
          </a:p>
          <a:p>
            <a:pPr algn="just" marL="678310" indent="-339155" lvl="1">
              <a:lnSpc>
                <a:spcPts val="4398"/>
              </a:lnSpc>
              <a:buFont typeface="Arial"/>
              <a:buChar char="•"/>
            </a:pPr>
            <a:r>
              <a:rPr lang="en-US" b="true" sz="3141">
                <a:solidFill>
                  <a:srgbClr val="002B58"/>
                </a:solidFill>
                <a:latin typeface="Monda Bold"/>
                <a:ea typeface="Monda Bold"/>
                <a:cs typeface="Monda Bold"/>
                <a:sym typeface="Monda Bold"/>
              </a:rPr>
              <a:t>Line Chart: Enrollment &amp; Dropout Trends over the Years.</a:t>
            </a:r>
          </a:p>
          <a:p>
            <a:pPr algn="just" marL="678310" indent="-339155" lvl="1">
              <a:lnSpc>
                <a:spcPts val="4398"/>
              </a:lnSpc>
              <a:buFont typeface="Arial"/>
              <a:buChar char="•"/>
            </a:pPr>
            <a:r>
              <a:rPr lang="en-US" b="true" sz="3141">
                <a:solidFill>
                  <a:srgbClr val="002B58"/>
                </a:solidFill>
                <a:latin typeface="Monda Bold"/>
                <a:ea typeface="Monda Bold"/>
                <a:cs typeface="Monda Bold"/>
                <a:sym typeface="Monda Bold"/>
              </a:rPr>
              <a:t>Map Visual: State-wise Distribution of Schools and Students.</a:t>
            </a:r>
          </a:p>
          <a:p>
            <a:pPr algn="just" marL="678310" indent="-339155" lvl="1">
              <a:lnSpc>
                <a:spcPts val="4398"/>
              </a:lnSpc>
              <a:buFont typeface="Arial"/>
              <a:buChar char="•"/>
            </a:pPr>
            <a:r>
              <a:rPr lang="en-US" b="true" sz="3141">
                <a:solidFill>
                  <a:srgbClr val="002B58"/>
                </a:solidFill>
                <a:latin typeface="Monda Bold"/>
                <a:ea typeface="Monda Bold"/>
                <a:cs typeface="Monda Bold"/>
                <a:sym typeface="Monda Bold"/>
              </a:rPr>
              <a:t>Stacked Chart: Attendance comparison between Rural and Urban areas.</a:t>
            </a:r>
          </a:p>
          <a:p>
            <a:pPr algn="just">
              <a:lnSpc>
                <a:spcPts val="4398"/>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307884" y="1980072"/>
            <a:ext cx="9672231"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METHODOLOGY</a:t>
            </a:r>
          </a:p>
        </p:txBody>
      </p:sp>
      <p:sp>
        <p:nvSpPr>
          <p:cNvPr name="TextBox 8" id="8"/>
          <p:cNvSpPr txBox="true"/>
          <p:nvPr/>
        </p:nvSpPr>
        <p:spPr>
          <a:xfrm rot="0">
            <a:off x="4483977" y="4629133"/>
            <a:ext cx="10306654" cy="2832009"/>
          </a:xfrm>
          <a:prstGeom prst="rect">
            <a:avLst/>
          </a:prstGeom>
        </p:spPr>
        <p:txBody>
          <a:bodyPr anchor="t" rtlCol="false" tIns="0" lIns="0" bIns="0" rIns="0">
            <a:spAutoFit/>
          </a:bodyPr>
          <a:lstStyle/>
          <a:p>
            <a:pPr algn="l" marL="702450" indent="-351225" lvl="1">
              <a:lnSpc>
                <a:spcPts val="4555"/>
              </a:lnSpc>
              <a:buFont typeface="Arial"/>
              <a:buChar char="•"/>
            </a:pPr>
            <a:r>
              <a:rPr lang="en-US" sz="3253">
                <a:solidFill>
                  <a:srgbClr val="002B58"/>
                </a:solidFill>
                <a:latin typeface="Monda"/>
                <a:ea typeface="Monda"/>
                <a:cs typeface="Monda"/>
                <a:sym typeface="Monda"/>
              </a:rPr>
              <a:t>Data imported into Power BI.</a:t>
            </a:r>
          </a:p>
          <a:p>
            <a:pPr algn="l" marL="702450" indent="-351225" lvl="1">
              <a:lnSpc>
                <a:spcPts val="4555"/>
              </a:lnSpc>
              <a:buFont typeface="Arial"/>
              <a:buChar char="•"/>
            </a:pPr>
            <a:r>
              <a:rPr lang="en-US" sz="3253">
                <a:solidFill>
                  <a:srgbClr val="002B58"/>
                </a:solidFill>
                <a:latin typeface="Monda"/>
                <a:ea typeface="Monda"/>
                <a:cs typeface="Monda"/>
                <a:sym typeface="Monda"/>
              </a:rPr>
              <a:t>Data cleaning and transformation performed.</a:t>
            </a:r>
          </a:p>
          <a:p>
            <a:pPr algn="l" marL="702450" indent="-351225" lvl="1">
              <a:lnSpc>
                <a:spcPts val="4555"/>
              </a:lnSpc>
              <a:buFont typeface="Arial"/>
              <a:buChar char="•"/>
            </a:pPr>
            <a:r>
              <a:rPr lang="en-US" sz="3253">
                <a:solidFill>
                  <a:srgbClr val="002B58"/>
                </a:solidFill>
                <a:latin typeface="Monda"/>
                <a:ea typeface="Monda"/>
                <a:cs typeface="Monda"/>
                <a:sym typeface="Monda"/>
              </a:rPr>
              <a:t>Key measures and visuals developed for comparative insights.</a:t>
            </a:r>
          </a:p>
          <a:p>
            <a:pPr algn="l">
              <a:lnSpc>
                <a:spcPts val="455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307884" y="1980072"/>
            <a:ext cx="9672231"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INSIGHTS</a:t>
            </a:r>
          </a:p>
        </p:txBody>
      </p:sp>
      <p:sp>
        <p:nvSpPr>
          <p:cNvPr name="TextBox 8" id="8"/>
          <p:cNvSpPr txBox="true"/>
          <p:nvPr/>
        </p:nvSpPr>
        <p:spPr>
          <a:xfrm rot="0">
            <a:off x="4307884" y="4297595"/>
            <a:ext cx="10856488" cy="3403509"/>
          </a:xfrm>
          <a:prstGeom prst="rect">
            <a:avLst/>
          </a:prstGeom>
        </p:spPr>
        <p:txBody>
          <a:bodyPr anchor="t" rtlCol="false" tIns="0" lIns="0" bIns="0" rIns="0">
            <a:spAutoFit/>
          </a:bodyPr>
          <a:lstStyle/>
          <a:p>
            <a:pPr algn="l" marL="702450" indent="-351225" lvl="1">
              <a:lnSpc>
                <a:spcPts val="4555"/>
              </a:lnSpc>
              <a:buFont typeface="Arial"/>
              <a:buChar char="•"/>
            </a:pPr>
            <a:r>
              <a:rPr lang="en-US" sz="3253">
                <a:solidFill>
                  <a:srgbClr val="002B58"/>
                </a:solidFill>
                <a:latin typeface="Monda"/>
                <a:ea typeface="Monda"/>
                <a:cs typeface="Monda"/>
                <a:sym typeface="Monda"/>
              </a:rPr>
              <a:t>Kerala, Himachal Pradesh show best performance.</a:t>
            </a:r>
          </a:p>
          <a:p>
            <a:pPr algn="l" marL="702450" indent="-351225" lvl="1">
              <a:lnSpc>
                <a:spcPts val="4555"/>
              </a:lnSpc>
              <a:buFont typeface="Arial"/>
              <a:buChar char="•"/>
            </a:pPr>
            <a:r>
              <a:rPr lang="en-US" sz="3253">
                <a:solidFill>
                  <a:srgbClr val="002B58"/>
                </a:solidFill>
                <a:latin typeface="Monda"/>
                <a:ea typeface="Monda"/>
                <a:cs typeface="Monda"/>
                <a:sym typeface="Monda"/>
              </a:rPr>
              <a:t>Rural regions lag behind in attendance and teacher availability.</a:t>
            </a:r>
          </a:p>
          <a:p>
            <a:pPr algn="l" marL="702450" indent="-351225" lvl="1">
              <a:lnSpc>
                <a:spcPts val="4555"/>
              </a:lnSpc>
              <a:buFont typeface="Arial"/>
              <a:buChar char="•"/>
            </a:pPr>
            <a:r>
              <a:rPr lang="en-US" sz="3253">
                <a:solidFill>
                  <a:srgbClr val="002B58"/>
                </a:solidFill>
                <a:latin typeface="Monda"/>
                <a:ea typeface="Monda"/>
                <a:cs typeface="Monda"/>
                <a:sym typeface="Monda"/>
              </a:rPr>
              <a:t>Female enrollment has improved but not yet equal in all regions.</a:t>
            </a:r>
          </a:p>
          <a:p>
            <a:pPr algn="l">
              <a:lnSpc>
                <a:spcPts val="455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343749" y="3084462"/>
            <a:ext cx="14313413" cy="4268543"/>
          </a:xfrm>
          <a:prstGeom prst="rect">
            <a:avLst/>
          </a:prstGeom>
        </p:spPr>
        <p:txBody>
          <a:bodyPr anchor="t" rtlCol="false" tIns="0" lIns="0" bIns="0" rIns="0">
            <a:spAutoFit/>
          </a:bodyPr>
          <a:lstStyle/>
          <a:p>
            <a:pPr algn="ctr">
              <a:lnSpc>
                <a:spcPts val="4272"/>
              </a:lnSpc>
            </a:pPr>
            <a:r>
              <a:rPr lang="en-US" sz="3052">
                <a:solidFill>
                  <a:srgbClr val="002B58"/>
                </a:solidFill>
                <a:latin typeface="Monda"/>
                <a:ea typeface="Monda"/>
                <a:cs typeface="Monda"/>
                <a:sym typeface="Monda"/>
              </a:rPr>
              <a:t>The analysis shows that India has made good progress in increasing student enrollment in elementary schools. However, issues like low attendance and higher dropout rates still exist in some rural and underdeveloped areas. Although the gap between boys’ and girls’ education is reducing, a few states continue to face challenges in achieving equality. Using Power BI helped to clearly visualize these trends and identify problem areas. Improving school infrastructure, teacher training, and community awareness can help ensure that every child gets equal access to quality elementary education.</a:t>
            </a:r>
          </a:p>
        </p:txBody>
      </p:sp>
      <p:sp>
        <p:nvSpPr>
          <p:cNvPr name="TextBox 8" id="8"/>
          <p:cNvSpPr txBox="true"/>
          <p:nvPr/>
        </p:nvSpPr>
        <p:spPr>
          <a:xfrm rot="0">
            <a:off x="4307884" y="1336929"/>
            <a:ext cx="9672231"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CONCLUSION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743480" y="4136923"/>
            <a:ext cx="12801040" cy="1813128"/>
          </a:xfrm>
          <a:prstGeom prst="rect">
            <a:avLst/>
          </a:prstGeom>
        </p:spPr>
        <p:txBody>
          <a:bodyPr anchor="t" rtlCol="false" tIns="0" lIns="0" bIns="0" rIns="0">
            <a:spAutoFit/>
          </a:bodyPr>
          <a:lstStyle/>
          <a:p>
            <a:pPr algn="ctr">
              <a:lnSpc>
                <a:spcPts val="14887"/>
              </a:lnSpc>
            </a:pPr>
            <a:r>
              <a:rPr lang="en-US" b="true" sz="10634">
                <a:solidFill>
                  <a:srgbClr val="002B58"/>
                </a:solidFill>
                <a:latin typeface="Monda Bold"/>
                <a:ea typeface="Monda Bold"/>
                <a:cs typeface="Monda Bold"/>
                <a:sym typeface="Mond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DAG3sSfes1U</dc:identifier>
  <dcterms:modified xsi:type="dcterms:W3CDTF">2011-08-01T06:04:30Z</dcterms:modified>
  <cp:revision>1</cp:revision>
  <dc:title>Blue Modern Elegant Presentation</dc:title>
</cp:coreProperties>
</file>